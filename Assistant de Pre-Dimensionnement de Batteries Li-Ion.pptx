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6256000" cy="9144000"/>
  <p:notesSz cx="9144000" cy="16256000"/>
  <p:embeddedFontLst>
    <p:embeddedFont>
      <p:font typeface="微软雅黑" panose="020B0503020204020204" pitchFamily="34" charset="-122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Liter" panose="020B0604020202020204" charset="0"/>
      <p:regular r:id="rId1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92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fkl6iogviehu/mnt/agents/images/2_Capgemini_Engineering_en_robotics.png"/>
          <p:cNvPicPr>
            <a:picLocks noChangeAspect="1"/>
          </p:cNvPicPr>
          <p:nvPr/>
        </p:nvPicPr>
        <p:blipFill>
          <a:blip r:embed="rId3"/>
          <a:srcRect l="-39565" r="-39565"/>
          <a:stretch/>
        </p:blipFill>
        <p:spPr>
          <a:xfrm>
            <a:off x="12956092" y="241300"/>
            <a:ext cx="2921000" cy="1181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698500"/>
            <a:ext cx="1168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Assistant de Pré-Dimensionnement de Batteries Li-Ion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6764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70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62000" y="2159000"/>
            <a:ext cx="787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dimensionnement d'un pack batterie est un processus itératif et manuel, source d'erreurs et chronophage pour les </a:t>
            </a:r>
            <a:r>
              <a:rPr lang="en-US" sz="1800" dirty="0" err="1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ingénieurs</a:t>
            </a: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3175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70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3657600"/>
            <a:ext cx="787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Développer un outil </a:t>
            </a:r>
            <a:r>
              <a:rPr lang="en-US" sz="18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</a:t>
            </a: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qui automatise ce dimensionnement à partir de contraintes réelles.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0" y="16764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70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144000" y="2222500"/>
            <a:ext cx="1143000" cy="406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0" y="22225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2222500"/>
            <a:ext cx="889000" cy="406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14000" y="2222500"/>
            <a:ext cx="88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430000" y="2222500"/>
            <a:ext cx="1079500" cy="406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0" y="2222500"/>
            <a:ext cx="107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636500" y="2222500"/>
            <a:ext cx="990600" cy="406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636500" y="2222500"/>
            <a:ext cx="990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3754100" y="2222500"/>
            <a:ext cx="990600" cy="406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54100" y="2222500"/>
            <a:ext cx="990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4762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70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de fonctionnement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62000" y="5334000"/>
            <a:ext cx="2667000" cy="889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0070A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8050" y="5562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78147" y="5556"/>
                </a:moveTo>
                <a:cubicBezTo>
                  <a:pt x="224146" y="5556"/>
                  <a:pt x="261491" y="42901"/>
                  <a:pt x="261491" y="88900"/>
                </a:cubicBezTo>
                <a:cubicBezTo>
                  <a:pt x="261491" y="134899"/>
                  <a:pt x="224146" y="172244"/>
                  <a:pt x="178147" y="172244"/>
                </a:cubicBezTo>
                <a:cubicBezTo>
                  <a:pt x="132149" y="172244"/>
                  <a:pt x="94804" y="134899"/>
                  <a:pt x="94804" y="88900"/>
                </a:cubicBezTo>
                <a:cubicBezTo>
                  <a:pt x="94804" y="42901"/>
                  <a:pt x="132149" y="5556"/>
                  <a:pt x="178147" y="5556"/>
                </a:cubicBezTo>
                <a:close/>
                <a:moveTo>
                  <a:pt x="157450" y="211138"/>
                </a:moveTo>
                <a:lnTo>
                  <a:pt x="198705" y="211138"/>
                </a:lnTo>
                <a:lnTo>
                  <a:pt x="199747" y="211138"/>
                </a:lnTo>
                <a:cubicBezTo>
                  <a:pt x="190788" y="229751"/>
                  <a:pt x="194330" y="251559"/>
                  <a:pt x="207734" y="266353"/>
                </a:cubicBezTo>
                <a:cubicBezTo>
                  <a:pt x="193705" y="281841"/>
                  <a:pt x="190510" y="305108"/>
                  <a:pt x="201206" y="324277"/>
                </a:cubicBezTo>
                <a:lnTo>
                  <a:pt x="216833" y="352336"/>
                </a:lnTo>
                <a:cubicBezTo>
                  <a:pt x="217458" y="353447"/>
                  <a:pt x="218152" y="354558"/>
                  <a:pt x="218847" y="355600"/>
                </a:cubicBezTo>
                <a:lnTo>
                  <a:pt x="54243" y="355600"/>
                </a:lnTo>
                <a:cubicBezTo>
                  <a:pt x="42853" y="355600"/>
                  <a:pt x="33615" y="346363"/>
                  <a:pt x="33615" y="334972"/>
                </a:cubicBezTo>
                <a:cubicBezTo>
                  <a:pt x="33615" y="266561"/>
                  <a:pt x="89039" y="211137"/>
                  <a:pt x="157450" y="211137"/>
                </a:cubicBezTo>
                <a:close/>
                <a:moveTo>
                  <a:pt x="300454" y="171966"/>
                </a:moveTo>
                <a:cubicBezTo>
                  <a:pt x="300454" y="162729"/>
                  <a:pt x="307886" y="155297"/>
                  <a:pt x="317123" y="155297"/>
                </a:cubicBezTo>
                <a:lnTo>
                  <a:pt x="350460" y="155297"/>
                </a:lnTo>
                <a:cubicBezTo>
                  <a:pt x="359698" y="155297"/>
                  <a:pt x="367129" y="162729"/>
                  <a:pt x="367129" y="171966"/>
                </a:cubicBezTo>
                <a:lnTo>
                  <a:pt x="367129" y="176203"/>
                </a:lnTo>
                <a:cubicBezTo>
                  <a:pt x="367129" y="189329"/>
                  <a:pt x="383867" y="198983"/>
                  <a:pt x="395258" y="192455"/>
                </a:cubicBezTo>
                <a:lnTo>
                  <a:pt x="398730" y="190440"/>
                </a:lnTo>
                <a:cubicBezTo>
                  <a:pt x="406787" y="185787"/>
                  <a:pt x="417135" y="188635"/>
                  <a:pt x="421650" y="196761"/>
                </a:cubicBezTo>
                <a:lnTo>
                  <a:pt x="437207" y="224681"/>
                </a:lnTo>
                <a:cubicBezTo>
                  <a:pt x="441514" y="232460"/>
                  <a:pt x="439013" y="242183"/>
                  <a:pt x="431512" y="246906"/>
                </a:cubicBezTo>
                <a:lnTo>
                  <a:pt x="428248" y="248920"/>
                </a:lnTo>
                <a:cubicBezTo>
                  <a:pt x="416997" y="255935"/>
                  <a:pt x="416997" y="276632"/>
                  <a:pt x="428248" y="283716"/>
                </a:cubicBezTo>
                <a:lnTo>
                  <a:pt x="431443" y="285730"/>
                </a:lnTo>
                <a:cubicBezTo>
                  <a:pt x="438944" y="290453"/>
                  <a:pt x="441514" y="300176"/>
                  <a:pt x="437207" y="307955"/>
                </a:cubicBezTo>
                <a:lnTo>
                  <a:pt x="421580" y="336014"/>
                </a:lnTo>
                <a:cubicBezTo>
                  <a:pt x="417066" y="344140"/>
                  <a:pt x="406718" y="347057"/>
                  <a:pt x="398661" y="342334"/>
                </a:cubicBezTo>
                <a:lnTo>
                  <a:pt x="395258" y="340320"/>
                </a:lnTo>
                <a:cubicBezTo>
                  <a:pt x="383867" y="333722"/>
                  <a:pt x="367129" y="343446"/>
                  <a:pt x="367129" y="356572"/>
                </a:cubicBezTo>
                <a:lnTo>
                  <a:pt x="367129" y="360809"/>
                </a:lnTo>
                <a:cubicBezTo>
                  <a:pt x="367129" y="370046"/>
                  <a:pt x="359698" y="377478"/>
                  <a:pt x="350460" y="377478"/>
                </a:cubicBezTo>
                <a:lnTo>
                  <a:pt x="317123" y="377478"/>
                </a:lnTo>
                <a:cubicBezTo>
                  <a:pt x="307886" y="377478"/>
                  <a:pt x="300454" y="370046"/>
                  <a:pt x="300454" y="360809"/>
                </a:cubicBezTo>
                <a:lnTo>
                  <a:pt x="300454" y="356711"/>
                </a:lnTo>
                <a:cubicBezTo>
                  <a:pt x="300454" y="343515"/>
                  <a:pt x="283647" y="333792"/>
                  <a:pt x="272187" y="340390"/>
                </a:cubicBezTo>
                <a:lnTo>
                  <a:pt x="268853" y="342334"/>
                </a:lnTo>
                <a:cubicBezTo>
                  <a:pt x="260796" y="346988"/>
                  <a:pt x="250517" y="344140"/>
                  <a:pt x="245934" y="336014"/>
                </a:cubicBezTo>
                <a:lnTo>
                  <a:pt x="230237" y="307955"/>
                </a:lnTo>
                <a:cubicBezTo>
                  <a:pt x="225931" y="300176"/>
                  <a:pt x="228431" y="290384"/>
                  <a:pt x="236002" y="285661"/>
                </a:cubicBezTo>
                <a:lnTo>
                  <a:pt x="239058" y="283785"/>
                </a:lnTo>
                <a:cubicBezTo>
                  <a:pt x="250379" y="276771"/>
                  <a:pt x="250379" y="255935"/>
                  <a:pt x="239058" y="248920"/>
                </a:cubicBezTo>
                <a:lnTo>
                  <a:pt x="235932" y="246975"/>
                </a:lnTo>
                <a:cubicBezTo>
                  <a:pt x="228362" y="242253"/>
                  <a:pt x="225862" y="232460"/>
                  <a:pt x="230168" y="224681"/>
                </a:cubicBezTo>
                <a:lnTo>
                  <a:pt x="245795" y="196691"/>
                </a:lnTo>
                <a:cubicBezTo>
                  <a:pt x="250309" y="188565"/>
                  <a:pt x="260658" y="185718"/>
                  <a:pt x="268645" y="190371"/>
                </a:cubicBezTo>
                <a:lnTo>
                  <a:pt x="271978" y="192316"/>
                </a:lnTo>
                <a:cubicBezTo>
                  <a:pt x="283438" y="198914"/>
                  <a:pt x="300246" y="189190"/>
                  <a:pt x="300246" y="175994"/>
                </a:cubicBezTo>
                <a:lnTo>
                  <a:pt x="300246" y="171896"/>
                </a:lnTo>
                <a:close/>
                <a:moveTo>
                  <a:pt x="369838" y="266561"/>
                </a:moveTo>
                <a:cubicBezTo>
                  <a:pt x="369838" y="246628"/>
                  <a:pt x="353655" y="230445"/>
                  <a:pt x="333722" y="230445"/>
                </a:cubicBezTo>
                <a:cubicBezTo>
                  <a:pt x="313790" y="230445"/>
                  <a:pt x="297607" y="246628"/>
                  <a:pt x="297607" y="266561"/>
                </a:cubicBezTo>
                <a:cubicBezTo>
                  <a:pt x="297607" y="286494"/>
                  <a:pt x="313790" y="302677"/>
                  <a:pt x="333722" y="302677"/>
                </a:cubicBezTo>
                <a:cubicBezTo>
                  <a:pt x="353655" y="302677"/>
                  <a:pt x="369838" y="286494"/>
                  <a:pt x="369838" y="266561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5334000"/>
            <a:ext cx="190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Ingénieur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29000" y="5753100"/>
            <a:ext cx="698500" cy="0"/>
          </a:xfrm>
          <a:prstGeom prst="straightConnector1">
            <a:avLst/>
          </a:prstGeom>
          <a:noFill/>
          <a:ln w="25400">
            <a:solidFill>
              <a:srgbClr val="12ABDB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4127500" y="5334000"/>
            <a:ext cx="2984500" cy="889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0070A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5775" y="5562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27" name="Text 24"/>
          <p:cNvSpPr/>
          <p:nvPr/>
        </p:nvSpPr>
        <p:spPr>
          <a:xfrm>
            <a:off x="4737100" y="5334000"/>
            <a:ext cx="222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Saisie des contraintes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Dimensions, Énergie, Tension, Courant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12000" y="5753100"/>
            <a:ext cx="698500" cy="0"/>
          </a:xfrm>
          <a:prstGeom prst="straightConnector1">
            <a:avLst/>
          </a:prstGeom>
          <a:noFill/>
          <a:ln w="25400">
            <a:solidFill>
              <a:srgbClr val="12ABDB"/>
            </a:solidFill>
            <a:prstDash val="solid"/>
            <a:headEnd type="none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7810500" y="5334000"/>
            <a:ext cx="2984500" cy="889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0070A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01000" y="556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31" name="Text 28"/>
          <p:cNvSpPr/>
          <p:nvPr/>
        </p:nvSpPr>
        <p:spPr>
          <a:xfrm>
            <a:off x="8420100" y="5334000"/>
            <a:ext cx="222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de calcul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Série × Parallèle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795000" y="5753100"/>
            <a:ext cx="698500" cy="0"/>
          </a:xfrm>
          <a:prstGeom prst="straightConnector1">
            <a:avLst/>
          </a:prstGeom>
          <a:noFill/>
          <a:ln w="25400">
            <a:solidFill>
              <a:srgbClr val="12ABDB"/>
            </a:solidFill>
            <a:prstDash val="solid"/>
            <a:headEnd type="none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11493500" y="5334000"/>
            <a:ext cx="4000500" cy="889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12ABD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728450" y="5562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191968" y="181064"/>
                </a:moveTo>
                <a:cubicBezTo>
                  <a:pt x="196830" y="173286"/>
                  <a:pt x="194469" y="163006"/>
                  <a:pt x="186690" y="158075"/>
                </a:cubicBezTo>
                <a:cubicBezTo>
                  <a:pt x="178911" y="153144"/>
                  <a:pt x="168632" y="155575"/>
                  <a:pt x="163701" y="163354"/>
                </a:cubicBezTo>
                <a:lnTo>
                  <a:pt x="121057" y="231626"/>
                </a:lnTo>
                <a:lnTo>
                  <a:pt x="102304" y="206623"/>
                </a:lnTo>
                <a:cubicBezTo>
                  <a:pt x="96748" y="199261"/>
                  <a:pt x="86330" y="197733"/>
                  <a:pt x="78968" y="203289"/>
                </a:cubicBezTo>
                <a:cubicBezTo>
                  <a:pt x="71606" y="208846"/>
                  <a:pt x="70078" y="219264"/>
                  <a:pt x="75634" y="226626"/>
                </a:cubicBezTo>
                <a:lnTo>
                  <a:pt x="108972" y="271076"/>
                </a:lnTo>
                <a:cubicBezTo>
                  <a:pt x="112236" y="275451"/>
                  <a:pt x="117515" y="277951"/>
                  <a:pt x="123001" y="277743"/>
                </a:cubicBezTo>
                <a:cubicBezTo>
                  <a:pt x="128488" y="277535"/>
                  <a:pt x="133489" y="274618"/>
                  <a:pt x="136406" y="269895"/>
                </a:cubicBezTo>
                <a:lnTo>
                  <a:pt x="191968" y="180995"/>
                </a:ln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35" name="Text 32"/>
          <p:cNvSpPr/>
          <p:nvPr/>
        </p:nvSpPr>
        <p:spPr>
          <a:xfrm>
            <a:off x="12103100" y="5334000"/>
            <a:ext cx="323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Résultat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2AB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 / REJECT + 3D + PDF+EXPORT STEP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0070AD">
              <a:alpha val="4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62000" y="882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Capgemini Engineering — Réunion d'équipe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A39EA6-10F0-4D02-873A-5284EEE23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230" y="3023870"/>
            <a:ext cx="79854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Electron Logo in SVG Vector or PNG File Format ...">
            <a:extLst>
              <a:ext uri="{FF2B5EF4-FFF2-40B4-BE49-F238E27FC236}">
                <a16:creationId xmlns:a16="http://schemas.microsoft.com/office/drawing/2014/main" id="{4C3FD18D-421D-4950-B09F-18ECD21E2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972" y="2806700"/>
            <a:ext cx="1709055" cy="113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4F7D266-48A3-4456-BCB7-857B20BD1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4930" y="3021330"/>
            <a:ext cx="713740" cy="71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3" grpId="0" animBg="1"/>
      <p:bldP spid="27" grpId="0" animBg="1"/>
      <p:bldP spid="31" grpId="0" animBg="1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635000"/>
            <a:ext cx="1168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État d'avancement — Fonctionnalités réalisées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2000" y="1346200"/>
            <a:ext cx="1016000" cy="381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5" name="Shape 2"/>
          <p:cNvSpPr/>
          <p:nvPr/>
        </p:nvSpPr>
        <p:spPr>
          <a:xfrm>
            <a:off x="939800" y="2705100"/>
            <a:ext cx="7175500" cy="139700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6" name="Shape 3"/>
          <p:cNvSpPr/>
          <p:nvPr/>
        </p:nvSpPr>
        <p:spPr>
          <a:xfrm>
            <a:off x="939800" y="2705100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7" name="Shape 4"/>
          <p:cNvSpPr/>
          <p:nvPr/>
        </p:nvSpPr>
        <p:spPr>
          <a:xfrm>
            <a:off x="1219200" y="295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8" name="Text 5"/>
          <p:cNvSpPr/>
          <p:nvPr/>
        </p:nvSpPr>
        <p:spPr>
          <a:xfrm>
            <a:off x="1701800" y="2959100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 cellules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01800" y="3238500"/>
            <a:ext cx="615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</a:t>
            </a: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excel, importable via SharePoint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39800" y="4229100"/>
            <a:ext cx="7175500" cy="139700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1" name="Shape 8"/>
          <p:cNvSpPr/>
          <p:nvPr/>
        </p:nvSpPr>
        <p:spPr>
          <a:xfrm>
            <a:off x="939800" y="4229100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2" name="Shape 9"/>
          <p:cNvSpPr/>
          <p:nvPr/>
        </p:nvSpPr>
        <p:spPr>
          <a:xfrm>
            <a:off x="1219200" y="4483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13" name="Text 10"/>
          <p:cNvSpPr/>
          <p:nvPr/>
        </p:nvSpPr>
        <p:spPr>
          <a:xfrm>
            <a:off x="1701800" y="4483100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de dimensionnement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701800" y="4762500"/>
            <a:ext cx="615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Algorithme S×P, DoD.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9800" y="5753100"/>
            <a:ext cx="7175500" cy="139700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6" name="Shape 13"/>
          <p:cNvSpPr/>
          <p:nvPr/>
        </p:nvSpPr>
        <p:spPr>
          <a:xfrm>
            <a:off x="939800" y="5753100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7" name="Shape 14"/>
          <p:cNvSpPr/>
          <p:nvPr/>
        </p:nvSpPr>
        <p:spPr>
          <a:xfrm>
            <a:off x="1219200" y="6007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18" name="Text 15"/>
          <p:cNvSpPr/>
          <p:nvPr/>
        </p:nvSpPr>
        <p:spPr>
          <a:xfrm>
            <a:off x="1701800" y="6007100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Visualisation 3D interactive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701800" y="6286500"/>
            <a:ext cx="615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batterie  des cellules cylindriques, </a:t>
            </a:r>
            <a:r>
              <a:rPr lang="en-US" sz="1500" dirty="0" err="1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prismatiques</a:t>
            </a: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94700" y="5800986"/>
            <a:ext cx="7302500" cy="1397000"/>
          </a:xfrm>
          <a:prstGeom prst="rect">
            <a:avLst/>
          </a:prstGeom>
          <a:solidFill>
            <a:srgbClr val="1A2D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Shape 18"/>
          <p:cNvSpPr/>
          <p:nvPr/>
        </p:nvSpPr>
        <p:spPr>
          <a:xfrm>
            <a:off x="8394700" y="5800986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2" name="Shape 19"/>
          <p:cNvSpPr/>
          <p:nvPr/>
        </p:nvSpPr>
        <p:spPr>
          <a:xfrm>
            <a:off x="8674100" y="605498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23" name="Text 20"/>
          <p:cNvSpPr/>
          <p:nvPr/>
        </p:nvSpPr>
        <p:spPr>
          <a:xfrm>
            <a:off x="9156700" y="6054986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Recommandeur de cellules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56700" y="6334386"/>
            <a:ext cx="615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catalogue complet, top 3 résultats + </a:t>
            </a:r>
            <a:r>
              <a:rPr lang="en-US" sz="1500" dirty="0" err="1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</a:t>
            </a: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entre les </a:t>
            </a:r>
            <a:r>
              <a:rPr lang="en-US" sz="1500" dirty="0" err="1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caractéristiques</a:t>
            </a: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 cellule 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69300" y="2705100"/>
            <a:ext cx="7302500" cy="1397000"/>
          </a:xfrm>
          <a:prstGeom prst="rect">
            <a:avLst/>
          </a:prstGeom>
          <a:solidFill>
            <a:srgbClr val="1A2D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Shape 23"/>
          <p:cNvSpPr/>
          <p:nvPr/>
        </p:nvSpPr>
        <p:spPr>
          <a:xfrm>
            <a:off x="8369300" y="2705100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7" name="Shape 24"/>
          <p:cNvSpPr/>
          <p:nvPr/>
        </p:nvSpPr>
        <p:spPr>
          <a:xfrm>
            <a:off x="8648700" y="295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28" name="Text 25"/>
          <p:cNvSpPr/>
          <p:nvPr/>
        </p:nvSpPr>
        <p:spPr>
          <a:xfrm>
            <a:off x="9131300" y="2959100"/>
            <a:ext cx="628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 PDF technique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131300" y="3238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Méthodologie, schémas, marges dimensionnelles, verdict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369300" y="4229100"/>
            <a:ext cx="7302500" cy="139700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31" name="Shape 28"/>
          <p:cNvSpPr/>
          <p:nvPr/>
        </p:nvSpPr>
        <p:spPr>
          <a:xfrm>
            <a:off x="8369300" y="4229100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32" name="Shape 29"/>
          <p:cNvSpPr/>
          <p:nvPr/>
        </p:nvSpPr>
        <p:spPr>
          <a:xfrm>
            <a:off x="8648700" y="4483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33" name="Text 30"/>
          <p:cNvSpPr/>
          <p:nvPr/>
        </p:nvSpPr>
        <p:spPr>
          <a:xfrm>
            <a:off x="9131300" y="4483100"/>
            <a:ext cx="628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131300" y="4762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Formats STEP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39800" y="7289426"/>
            <a:ext cx="7175500" cy="139700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36" name="Shape 33"/>
          <p:cNvSpPr/>
          <p:nvPr/>
        </p:nvSpPr>
        <p:spPr>
          <a:xfrm>
            <a:off x="939800" y="7289426"/>
            <a:ext cx="50800" cy="1397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37" name="Shape 34"/>
          <p:cNvSpPr/>
          <p:nvPr/>
        </p:nvSpPr>
        <p:spPr>
          <a:xfrm>
            <a:off x="1219200" y="754342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38" name="Text 35"/>
          <p:cNvSpPr/>
          <p:nvPr/>
        </p:nvSpPr>
        <p:spPr>
          <a:xfrm>
            <a:off x="1701800" y="7543426"/>
            <a:ext cx="628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packagée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701800" y="7822826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Installateur Windows autonome, déployable sans Python ni Node.js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39800" y="1765300"/>
            <a:ext cx="14732000" cy="698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2ABD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39800" y="1765300"/>
            <a:ext cx="63500" cy="69850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42" name="Shape 39"/>
          <p:cNvSpPr/>
          <p:nvPr/>
        </p:nvSpPr>
        <p:spPr>
          <a:xfrm>
            <a:off x="1279525" y="19177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0"/>
                </a:moveTo>
                <a:cubicBezTo>
                  <a:pt x="34518" y="0"/>
                  <a:pt x="44450" y="9932"/>
                  <a:pt x="44450" y="22225"/>
                </a:cubicBezTo>
                <a:lnTo>
                  <a:pt x="44450" y="33337"/>
                </a:lnTo>
                <a:lnTo>
                  <a:pt x="92373" y="21392"/>
                </a:lnTo>
                <a:cubicBezTo>
                  <a:pt x="118834" y="14794"/>
                  <a:pt x="146754" y="17849"/>
                  <a:pt x="171202" y="30073"/>
                </a:cubicBezTo>
                <a:cubicBezTo>
                  <a:pt x="203359" y="46186"/>
                  <a:pt x="241211" y="46186"/>
                  <a:pt x="273368" y="30073"/>
                </a:cubicBezTo>
                <a:lnTo>
                  <a:pt x="280035" y="26739"/>
                </a:lnTo>
                <a:cubicBezTo>
                  <a:pt x="294342" y="19516"/>
                  <a:pt x="311150" y="29934"/>
                  <a:pt x="311150" y="45909"/>
                </a:cubicBezTo>
                <a:lnTo>
                  <a:pt x="311150" y="240169"/>
                </a:lnTo>
                <a:cubicBezTo>
                  <a:pt x="311150" y="249406"/>
                  <a:pt x="305385" y="257741"/>
                  <a:pt x="296704" y="261005"/>
                </a:cubicBezTo>
                <a:lnTo>
                  <a:pt x="272604" y="270034"/>
                </a:lnTo>
                <a:cubicBezTo>
                  <a:pt x="240516" y="282049"/>
                  <a:pt x="204817" y="280174"/>
                  <a:pt x="174188" y="264894"/>
                </a:cubicBezTo>
                <a:cubicBezTo>
                  <a:pt x="147866" y="251698"/>
                  <a:pt x="117654" y="248434"/>
                  <a:pt x="89108" y="255587"/>
                </a:cubicBezTo>
                <a:lnTo>
                  <a:pt x="44450" y="266700"/>
                </a:lnTo>
                <a:lnTo>
                  <a:pt x="44450" y="333375"/>
                </a:lnTo>
                <a:cubicBezTo>
                  <a:pt x="44450" y="345668"/>
                  <a:pt x="34518" y="355600"/>
                  <a:pt x="22225" y="355600"/>
                </a:cubicBezTo>
                <a:cubicBezTo>
                  <a:pt x="9932" y="355600"/>
                  <a:pt x="0" y="345668"/>
                  <a:pt x="0" y="333375"/>
                </a:cubicBezTo>
                <a:lnTo>
                  <a:pt x="0" y="22225"/>
                </a:lnTo>
                <a:cubicBezTo>
                  <a:pt x="0" y="9932"/>
                  <a:pt x="9932" y="0"/>
                  <a:pt x="22225" y="0"/>
                </a:cubicBezTo>
                <a:close/>
                <a:moveTo>
                  <a:pt x="44450" y="129947"/>
                </a:moveTo>
                <a:lnTo>
                  <a:pt x="88900" y="120293"/>
                </a:lnTo>
                <a:lnTo>
                  <a:pt x="88900" y="165785"/>
                </a:lnTo>
                <a:lnTo>
                  <a:pt x="44450" y="175439"/>
                </a:lnTo>
                <a:lnTo>
                  <a:pt x="44450" y="220930"/>
                </a:lnTo>
                <a:lnTo>
                  <a:pt x="78343" y="212457"/>
                </a:lnTo>
                <a:cubicBezTo>
                  <a:pt x="81885" y="211554"/>
                  <a:pt x="85358" y="210790"/>
                  <a:pt x="88900" y="210165"/>
                </a:cubicBezTo>
                <a:lnTo>
                  <a:pt x="88900" y="165785"/>
                </a:lnTo>
                <a:lnTo>
                  <a:pt x="115917" y="159951"/>
                </a:lnTo>
                <a:cubicBezTo>
                  <a:pt x="121682" y="158700"/>
                  <a:pt x="127516" y="158214"/>
                  <a:pt x="133350" y="158492"/>
                </a:cubicBezTo>
                <a:lnTo>
                  <a:pt x="133350" y="114042"/>
                </a:lnTo>
                <a:cubicBezTo>
                  <a:pt x="142796" y="114320"/>
                  <a:pt x="152241" y="115848"/>
                  <a:pt x="161409" y="118487"/>
                </a:cubicBezTo>
                <a:lnTo>
                  <a:pt x="177800" y="123279"/>
                </a:lnTo>
                <a:lnTo>
                  <a:pt x="177800" y="169605"/>
                </a:lnTo>
                <a:lnTo>
                  <a:pt x="148838" y="161062"/>
                </a:lnTo>
                <a:cubicBezTo>
                  <a:pt x="143768" y="159603"/>
                  <a:pt x="138559" y="158700"/>
                  <a:pt x="133350" y="158423"/>
                </a:cubicBezTo>
                <a:lnTo>
                  <a:pt x="133350" y="208012"/>
                </a:lnTo>
                <a:cubicBezTo>
                  <a:pt x="148491" y="209332"/>
                  <a:pt x="163423" y="212665"/>
                  <a:pt x="177800" y="218013"/>
                </a:cubicBezTo>
                <a:lnTo>
                  <a:pt x="177800" y="169535"/>
                </a:lnTo>
                <a:lnTo>
                  <a:pt x="193566" y="174188"/>
                </a:lnTo>
                <a:cubicBezTo>
                  <a:pt x="202942" y="176967"/>
                  <a:pt x="212527" y="178633"/>
                  <a:pt x="222250" y="179328"/>
                </a:cubicBezTo>
                <a:lnTo>
                  <a:pt x="222250" y="134739"/>
                </a:lnTo>
                <a:cubicBezTo>
                  <a:pt x="216833" y="134183"/>
                  <a:pt x="211415" y="133142"/>
                  <a:pt x="206137" y="131614"/>
                </a:cubicBezTo>
                <a:lnTo>
                  <a:pt x="177800" y="123279"/>
                </a:lnTo>
                <a:lnTo>
                  <a:pt x="177800" y="80218"/>
                </a:lnTo>
                <a:cubicBezTo>
                  <a:pt x="168771" y="77579"/>
                  <a:pt x="159881" y="74106"/>
                  <a:pt x="151269" y="69800"/>
                </a:cubicBezTo>
                <a:cubicBezTo>
                  <a:pt x="145574" y="66953"/>
                  <a:pt x="139531" y="64939"/>
                  <a:pt x="133350" y="63689"/>
                </a:cubicBezTo>
                <a:lnTo>
                  <a:pt x="133350" y="113973"/>
                </a:lnTo>
                <a:cubicBezTo>
                  <a:pt x="124321" y="113695"/>
                  <a:pt x="115292" y="114528"/>
                  <a:pt x="106472" y="116473"/>
                </a:cubicBezTo>
                <a:lnTo>
                  <a:pt x="88900" y="120293"/>
                </a:lnTo>
                <a:lnTo>
                  <a:pt x="88900" y="68064"/>
                </a:lnTo>
                <a:lnTo>
                  <a:pt x="44450" y="79177"/>
                </a:lnTo>
                <a:lnTo>
                  <a:pt x="44450" y="129947"/>
                </a:lnTo>
                <a:close/>
                <a:moveTo>
                  <a:pt x="222250" y="233154"/>
                </a:moveTo>
                <a:cubicBezTo>
                  <a:pt x="233918" y="234196"/>
                  <a:pt x="245795" y="232668"/>
                  <a:pt x="256977" y="228431"/>
                </a:cubicBezTo>
                <a:lnTo>
                  <a:pt x="266700" y="224820"/>
                </a:lnTo>
                <a:lnTo>
                  <a:pt x="266700" y="175022"/>
                </a:lnTo>
                <a:lnTo>
                  <a:pt x="261213" y="176272"/>
                </a:lnTo>
                <a:cubicBezTo>
                  <a:pt x="248434" y="179259"/>
                  <a:pt x="235307" y="180231"/>
                  <a:pt x="222250" y="179397"/>
                </a:cubicBezTo>
                <a:lnTo>
                  <a:pt x="222250" y="233154"/>
                </a:lnTo>
                <a:close/>
                <a:moveTo>
                  <a:pt x="266700" y="129391"/>
                </a:moveTo>
                <a:lnTo>
                  <a:pt x="266700" y="80218"/>
                </a:lnTo>
                <a:cubicBezTo>
                  <a:pt x="252184" y="84455"/>
                  <a:pt x="237252" y="86539"/>
                  <a:pt x="222250" y="86539"/>
                </a:cubicBezTo>
                <a:lnTo>
                  <a:pt x="222250" y="134739"/>
                </a:lnTo>
                <a:cubicBezTo>
                  <a:pt x="231904" y="135711"/>
                  <a:pt x="241697" y="135086"/>
                  <a:pt x="251212" y="132933"/>
                </a:cubicBezTo>
                <a:lnTo>
                  <a:pt x="266700" y="129322"/>
                </a:lnTo>
                <a:close/>
              </a:path>
            </a:pathLst>
          </a:custGeom>
          <a:solidFill>
            <a:srgbClr val="12ABDB"/>
          </a:solidFill>
          <a:ln/>
        </p:spPr>
      </p:sp>
      <p:sp>
        <p:nvSpPr>
          <p:cNvPr id="43" name="Text 40"/>
          <p:cNvSpPr/>
          <p:nvPr/>
        </p:nvSpPr>
        <p:spPr>
          <a:xfrm>
            <a:off x="1765300" y="1765300"/>
            <a:ext cx="1358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fr-FR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première version de l'application est prête à être livrée. en attente des feedback utilisateurs pour de futures améliorations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0070AD">
              <a:alpha val="4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762000" y="882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Capgemini Engineering — Réunion d'équipe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608310" y="8412864"/>
            <a:ext cx="2242826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7" name="Image 0" descr="https://kimi-img.moonshot.cn/pub/slides/okc/zfkl6iogviehu/mnt/agents/images/2_Capgemini_Engineering_en_robotics.png">
            <a:extLst>
              <a:ext uri="{FF2B5EF4-FFF2-40B4-BE49-F238E27FC236}">
                <a16:creationId xmlns:a16="http://schemas.microsoft.com/office/drawing/2014/main" id="{4C04990D-500F-4686-92F5-770124EF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9565" r="-39565"/>
          <a:stretch/>
        </p:blipFill>
        <p:spPr>
          <a:xfrm>
            <a:off x="12956092" y="241300"/>
            <a:ext cx="292100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3" grpId="0" animBg="1"/>
      <p:bldP spid="34" grpId="0" animBg="1"/>
      <p:bldP spid="38" grpId="0" animBg="1"/>
      <p:bldP spid="39" grpId="0" animBg="1"/>
      <p:bldP spid="46" grpId="0" animBg="1"/>
    </p:bld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193</Words>
  <Application>Microsoft Office PowerPoint</Application>
  <PresentationFormat>Custom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Liter</vt:lpstr>
      <vt:lpstr>微软雅黑</vt:lpstr>
      <vt:lpstr>Arial</vt:lpstr>
      <vt:lpstr>Custom Theme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de Pre-Dimensionnement de Batteries Li-Ion</dc:title>
  <dc:subject>Assistant de Pre-Dimensionnement de Batteries Li-Ion</dc:subject>
  <dc:creator>Kimi</dc:creator>
  <cp:lastModifiedBy>Rayane Matloub</cp:lastModifiedBy>
  <cp:revision>4</cp:revision>
  <dcterms:created xsi:type="dcterms:W3CDTF">2026-05-10T23:12:19Z</dcterms:created>
  <dcterms:modified xsi:type="dcterms:W3CDTF">2026-05-10T23:39:15Z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{"Label":"Assistant de Pre-Dimensionnement de Batteries Li-Ion","ContentProducer":"001191110108MACG2KBH8F10000","ProduceID":"19e14211-8752-80b1-8000-00007f06a366","ReservedCode1":"","ContentPropagator":"001191110108MACG2KBH8F20000","PropagateID":"19e14211-8752-80b1-8000-00007f06a366","ReservedCode2":""}</vt:lpwstr>
  </property>
</Properties>
</file>